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0" r:id="rId2"/>
    <p:sldId id="256" r:id="rId3"/>
    <p:sldId id="258" r:id="rId4"/>
    <p:sldId id="257" r:id="rId5"/>
    <p:sldId id="259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76" autoAdjust="0"/>
    <p:restoredTop sz="94660"/>
  </p:normalViewPr>
  <p:slideViewPr>
    <p:cSldViewPr snapToGrid="0">
      <p:cViewPr varScale="1">
        <p:scale>
          <a:sx n="62" d="100"/>
          <a:sy n="62" d="100"/>
        </p:scale>
        <p:origin x="96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384C3283-72ED-4D88-81D8-AF790A769D4C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B635BB57-0E46-4BD7-9AF6-B4D7B4F3A742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6995991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C3283-72ED-4D88-81D8-AF790A769D4C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5BB57-0E46-4BD7-9AF6-B4D7B4F3A7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1062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C3283-72ED-4D88-81D8-AF790A769D4C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5BB57-0E46-4BD7-9AF6-B4D7B4F3A742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0090192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C3283-72ED-4D88-81D8-AF790A769D4C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5BB57-0E46-4BD7-9AF6-B4D7B4F3A7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55807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C3283-72ED-4D88-81D8-AF790A769D4C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5BB57-0E46-4BD7-9AF6-B4D7B4F3A7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57103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C3283-72ED-4D88-81D8-AF790A769D4C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5BB57-0E46-4BD7-9AF6-B4D7B4F3A7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4658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C3283-72ED-4D88-81D8-AF790A769D4C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5BB57-0E46-4BD7-9AF6-B4D7B4F3A7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3237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C3283-72ED-4D88-81D8-AF790A769D4C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5BB57-0E46-4BD7-9AF6-B4D7B4F3A7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80577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C3283-72ED-4D88-81D8-AF790A769D4C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5BB57-0E46-4BD7-9AF6-B4D7B4F3A7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73167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C3283-72ED-4D88-81D8-AF790A769D4C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5BB57-0E46-4BD7-9AF6-B4D7B4F3A7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34030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C3283-72ED-4D88-81D8-AF790A769D4C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5BB57-0E46-4BD7-9AF6-B4D7B4F3A7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77555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384C3283-72ED-4D88-81D8-AF790A769D4C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B635BB57-0E46-4BD7-9AF6-B4D7B4F3A7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81115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6D916B-5D7C-884D-70E5-89473CE4F9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53E5F26-F601-7BE5-15D4-B1A0EBFC26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7981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88895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22A06-A1E0-F959-3166-C732E43DE6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61946" y="805912"/>
            <a:ext cx="8068108" cy="914400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/>
              <a:t>Project Overview &amp; Architecture</a:t>
            </a:r>
            <a:br>
              <a:rPr lang="en-US" sz="3200" b="1" dirty="0"/>
            </a:br>
            <a:br>
              <a:rPr lang="en-US" sz="3200" dirty="0"/>
            </a:br>
            <a:endParaRPr lang="en-US" sz="3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1D90095-7336-DD37-65B2-87D6BA2589EB}"/>
              </a:ext>
            </a:extLst>
          </p:cNvPr>
          <p:cNvSpPr txBox="1"/>
          <p:nvPr/>
        </p:nvSpPr>
        <p:spPr>
          <a:xfrm>
            <a:off x="1317356" y="1697065"/>
            <a:ext cx="7578671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The Goal:</a:t>
            </a:r>
            <a:r>
              <a:rPr lang="en-US" sz="2800" dirty="0"/>
              <a:t> Create OLTP database (Northwind) from scratch ,Transform raw Northwind business data into actionable insights for decision-makers.</a:t>
            </a:r>
          </a:p>
          <a:p>
            <a:br>
              <a:rPr lang="en-US" sz="2800" dirty="0"/>
            </a:br>
            <a:r>
              <a:rPr lang="en-US" sz="2800" b="1" dirty="0"/>
              <a:t>The Stack:</a:t>
            </a:r>
            <a:r>
              <a:rPr lang="en-US" sz="2800" dirty="0"/>
              <a:t> SQL Server (OLTP), Python (ETL), PostgreSQL (DWH), </a:t>
            </a:r>
            <a:r>
              <a:rPr lang="en-US" sz="2800" dirty="0" err="1"/>
              <a:t>dbt</a:t>
            </a:r>
            <a:r>
              <a:rPr lang="en-US" sz="2800" dirty="0"/>
              <a:t> (Transformation), and Power BI (Analytics).</a:t>
            </a:r>
            <a:br>
              <a:rPr lang="en-US" sz="2800" dirty="0"/>
            </a:br>
            <a:r>
              <a:rPr lang="en-US" sz="2800" dirty="0"/>
              <a:t>BI).</a:t>
            </a:r>
          </a:p>
        </p:txBody>
      </p:sp>
    </p:spTree>
    <p:extLst>
      <p:ext uri="{BB962C8B-B14F-4D97-AF65-F5344CB8AC3E}">
        <p14:creationId xmlns:p14="http://schemas.microsoft.com/office/powerpoint/2010/main" val="26730135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0010EE8-5792-4A49-04A6-E8AA706929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8CD42E-D1D9-5A01-0BBA-73A4ACD712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28784" y="582737"/>
            <a:ext cx="9418320" cy="1298448"/>
          </a:xfrm>
        </p:spPr>
        <p:txBody>
          <a:bodyPr>
            <a:noAutofit/>
          </a:bodyPr>
          <a:lstStyle/>
          <a:p>
            <a:r>
              <a:rPr lang="en-US" sz="2400" b="1" dirty="0"/>
              <a:t> Phase 1: OLTP Database Design (The Source)</a:t>
            </a:r>
            <a:br>
              <a:rPr lang="en-US" sz="2400" b="1" dirty="0"/>
            </a:br>
            <a:br>
              <a:rPr lang="en-US" sz="2400" b="1" dirty="0"/>
            </a:br>
            <a:br>
              <a:rPr lang="en-US" sz="2400" dirty="0"/>
            </a:br>
            <a:endParaRPr lang="en-US" sz="2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9A4DD1-CFCC-E726-738D-E90969C745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44896" y="1664208"/>
            <a:ext cx="9418320" cy="3744700"/>
          </a:xfrm>
        </p:spPr>
        <p:txBody>
          <a:bodyPr>
            <a:normAutofit/>
          </a:bodyPr>
          <a:lstStyle/>
          <a:p>
            <a:r>
              <a:rPr lang="en-US" b="1" spc="-5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Relational Modeling: Designing the Northwind schema from scratch.</a:t>
            </a:r>
            <a:br>
              <a:rPr lang="en-US" b="1" spc="-5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br>
              <a:rPr lang="en-US" b="1" spc="-5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b="1" spc="-5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ERD &amp; Mapping: Implementing entities with strict cardinality and participation constraints.</a:t>
            </a:r>
          </a:p>
          <a:p>
            <a:br>
              <a:rPr lang="en-US" b="1" spc="-5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b="1" spc="-5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Data Integrity: Implementing Primary Keys, Foreign Keys, and Check Constraints in SQL Server.</a:t>
            </a:r>
            <a:br>
              <a:rPr lang="en-US" b="1" spc="-5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b="1" spc="-5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Initial Ingestion: Using Bulk Insert to populate the system with CSV data efficiently</a:t>
            </a:r>
          </a:p>
        </p:txBody>
      </p:sp>
    </p:spTree>
    <p:extLst>
      <p:ext uri="{BB962C8B-B14F-4D97-AF65-F5344CB8AC3E}">
        <p14:creationId xmlns:p14="http://schemas.microsoft.com/office/powerpoint/2010/main" val="36737407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D39C1B-219E-9A9D-0E83-979903B7E0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4C491ED-47A8-7B91-C9B6-996670D30F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2F860E3-6316-21F3-2895-3249F637BC46}"/>
              </a:ext>
            </a:extLst>
          </p:cNvPr>
          <p:cNvSpPr txBox="1"/>
          <p:nvPr/>
        </p:nvSpPr>
        <p:spPr>
          <a:xfrm>
            <a:off x="1100380" y="433952"/>
            <a:ext cx="12088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ERD</a:t>
            </a:r>
          </a:p>
        </p:txBody>
      </p:sp>
    </p:spTree>
    <p:extLst>
      <p:ext uri="{BB962C8B-B14F-4D97-AF65-F5344CB8AC3E}">
        <p14:creationId xmlns:p14="http://schemas.microsoft.com/office/powerpoint/2010/main" val="32449696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018866-4B0A-4F65-2644-9DD3F1DD1A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52A140-1DCE-90C4-4638-514956C092E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62E43AB-A995-937F-552B-125E141995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3528DC6-3C47-8E19-A282-E6F0F4588979}"/>
              </a:ext>
            </a:extLst>
          </p:cNvPr>
          <p:cNvSpPr txBox="1"/>
          <p:nvPr/>
        </p:nvSpPr>
        <p:spPr>
          <a:xfrm>
            <a:off x="5455403" y="174177"/>
            <a:ext cx="20922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Mapping</a:t>
            </a:r>
          </a:p>
        </p:txBody>
      </p:sp>
    </p:spTree>
    <p:extLst>
      <p:ext uri="{BB962C8B-B14F-4D97-AF65-F5344CB8AC3E}">
        <p14:creationId xmlns:p14="http://schemas.microsoft.com/office/powerpoint/2010/main" val="42230056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5AF5AC-DC41-D6F5-275D-D9CAEFA90E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1D26EC51-756C-EDF1-A195-CE9885EF36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66184"/>
            <a:ext cx="2657846" cy="629181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D3FEF2C-AFE3-42E9-49CF-2E4C0004D6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7846" y="566184"/>
            <a:ext cx="3138520" cy="629181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4819FA2-0BC8-17D2-8094-7D88E01E7A3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5270" y="566184"/>
            <a:ext cx="3372322" cy="629181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8CFCD06-39F2-7742-FCD8-964C50B6398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19679" y="566184"/>
            <a:ext cx="3372321" cy="629181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E4E0C61E-5A19-1F31-6C3A-7AAD7B837D4E}"/>
              </a:ext>
            </a:extLst>
          </p:cNvPr>
          <p:cNvSpPr txBox="1"/>
          <p:nvPr/>
        </p:nvSpPr>
        <p:spPr>
          <a:xfrm>
            <a:off x="3414011" y="196852"/>
            <a:ext cx="4029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	Database Implementation</a:t>
            </a:r>
          </a:p>
        </p:txBody>
      </p:sp>
    </p:spTree>
    <p:extLst>
      <p:ext uri="{BB962C8B-B14F-4D97-AF65-F5344CB8AC3E}">
        <p14:creationId xmlns:p14="http://schemas.microsoft.com/office/powerpoint/2010/main" val="9082550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FDBCC8-ADCD-62B6-C43D-7065B64FC7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5F2B34-0BC4-27CE-0466-83FC1A6CD8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2839" y="258906"/>
            <a:ext cx="7725181" cy="895494"/>
          </a:xfrm>
        </p:spPr>
        <p:txBody>
          <a:bodyPr>
            <a:noAutofit/>
          </a:bodyPr>
          <a:lstStyle/>
          <a:p>
            <a:r>
              <a:rPr lang="en-US" sz="2400" b="1" dirty="0"/>
              <a:t>Phase 2: The Ingestion Layer </a:t>
            </a:r>
            <a:br>
              <a:rPr lang="en-US" sz="2400" b="1" dirty="0"/>
            </a:br>
            <a:r>
              <a:rPr lang="en-US" sz="2400" b="1" dirty="0"/>
              <a:t>(Extraction-loading)</a:t>
            </a:r>
            <a:br>
              <a:rPr lang="en-US" sz="2400" b="1" dirty="0"/>
            </a:br>
            <a:endParaRPr lang="en-US" sz="2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E9216B-CE77-CBC7-4C4E-66855F3027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6207" y="1009448"/>
            <a:ext cx="5314575" cy="5101789"/>
          </a:xfrm>
        </p:spPr>
        <p:txBody>
          <a:bodyPr>
            <a:noAutofit/>
          </a:bodyPr>
          <a:lstStyle/>
          <a:p>
            <a:r>
              <a:rPr lang="en-US" sz="1600" b="1" spc="-5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Setting up PostgreSQL as the Target Data Warehouse.</a:t>
            </a:r>
          </a:p>
          <a:p>
            <a:br>
              <a:rPr lang="en-US" sz="1600" b="1" spc="-5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1600" b="1" spc="-5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Python ETL: Writing custom Python scripts to bridge the gap between SQL Server and Postgres.</a:t>
            </a:r>
          </a:p>
          <a:p>
            <a:br>
              <a:rPr lang="en-US" sz="1600" b="1" spc="-5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1600" b="1" spc="-5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Bronze Layer: Loading "Raw" data into the storage layer without changes to preserve history.</a:t>
            </a:r>
          </a:p>
          <a:p>
            <a:r>
              <a:rPr lang="en-US" sz="1600" b="1" spc="-5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Python Creates Tables and issues Data Definition Language (DDL) commands to create the destination tables with specific column names and data types before the data is fully inserted.</a:t>
            </a:r>
          </a:p>
          <a:p>
            <a:r>
              <a:rPr lang="en-US" sz="1600" b="1" spc="-5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Data Insertion: The data is then written into these newly created, structured tables</a:t>
            </a:r>
            <a:r>
              <a:rPr lang="en-US" sz="1600" dirty="0"/>
              <a:t>. </a:t>
            </a:r>
          </a:p>
          <a:p>
            <a:endParaRPr lang="en-US" sz="1800" b="1" spc="-5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3754C9-9099-A6F7-F032-97AFAB46DA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8933" y="191446"/>
            <a:ext cx="4744112" cy="6373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31328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DC84A9-4271-85ED-2AB9-1DDA8A91A0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8F9A8D-1C52-8F21-3D41-8F033FF9C8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1856" y="150644"/>
            <a:ext cx="10453865" cy="1027227"/>
          </a:xfrm>
        </p:spPr>
        <p:txBody>
          <a:bodyPr>
            <a:noAutofit/>
          </a:bodyPr>
          <a:lstStyle/>
          <a:p>
            <a:r>
              <a:rPr lang="en-US" sz="2400" b="1" dirty="0"/>
              <a:t>Phase 3: Data Transformation (</a:t>
            </a:r>
            <a:r>
              <a:rPr lang="en-US" sz="2400" b="1" dirty="0" err="1"/>
              <a:t>dbt</a:t>
            </a:r>
            <a:r>
              <a:rPr lang="en-US" sz="2400" b="1" dirty="0"/>
              <a:t> &amp; Silver Layer &amp; Gold layer)</a:t>
            </a:r>
            <a:br>
              <a:rPr lang="en-US" sz="2400" b="1" dirty="0"/>
            </a:br>
            <a:endParaRPr lang="en-US" sz="2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FFEF88-91A0-5801-C863-75DB185861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44896" y="1664208"/>
            <a:ext cx="9418320" cy="3744700"/>
          </a:xfrm>
        </p:spPr>
        <p:txBody>
          <a:bodyPr>
            <a:normAutofit fontScale="85000" lnSpcReduction="20000"/>
          </a:bodyPr>
          <a:lstStyle/>
          <a:p>
            <a:r>
              <a:rPr lang="en-US" sz="2400" b="1" spc="-5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Cleaning &amp; Standardization: Removing duplicates, handling nulls, and formatting data.</a:t>
            </a:r>
          </a:p>
          <a:p>
            <a:r>
              <a:rPr lang="en-US" sz="2400" b="1" spc="-5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SCD Type 2 Implemented : using snapshots to track historical changes (e.g., changes in employee roles or product prices).</a:t>
            </a:r>
          </a:p>
          <a:p>
            <a:r>
              <a:rPr lang="en-US" sz="2400" b="1" spc="-5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Modular SQL: Writing reusable </a:t>
            </a:r>
            <a:r>
              <a:rPr lang="en-US" sz="2400" b="1" spc="-5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dbt</a:t>
            </a:r>
            <a:r>
              <a:rPr lang="en-US" sz="2400" b="1" spc="-5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models to separate logic from final presentation.</a:t>
            </a:r>
          </a:p>
          <a:p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Implementing </a:t>
            </a:r>
            <a:r>
              <a:rPr lang="en-US" altLang="en-US" sz="2400" b="1" dirty="0" err="1">
                <a:solidFill>
                  <a:schemeClr val="tx1"/>
                </a:solidFill>
                <a:latin typeface="Arial" panose="020B0604020202020204" pitchFamily="34" charset="0"/>
              </a:rPr>
              <a:t>dbt</a:t>
            </a:r>
            <a:r>
              <a:rPr lang="en-US" altLang="en-US" sz="2400" b="1" dirty="0">
                <a:solidFill>
                  <a:schemeClr val="tx1"/>
                </a:solidFill>
                <a:latin typeface="Arial" panose="020B0604020202020204" pitchFamily="34" charset="0"/>
              </a:rPr>
              <a:t> tests</a:t>
            </a: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 (unique, not null, relationship tests) to ensure data reliability.</a:t>
            </a:r>
          </a:p>
          <a:p>
            <a:r>
              <a:rPr lang="en-US" altLang="en-US" sz="2400" b="1" dirty="0">
                <a:solidFill>
                  <a:schemeClr val="tx1"/>
                </a:solidFill>
                <a:latin typeface="Arial" panose="020B0604020202020204" pitchFamily="34" charset="0"/>
              </a:rPr>
              <a:t>Documentation:</a:t>
            </a: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 Generating </a:t>
            </a:r>
            <a:r>
              <a:rPr lang="en-US" altLang="en-US" sz="2400" b="1" dirty="0" err="1">
                <a:solidFill>
                  <a:schemeClr val="tx1"/>
                </a:solidFill>
                <a:latin typeface="Arial" panose="020B0604020202020204" pitchFamily="34" charset="0"/>
              </a:rPr>
              <a:t>dbt</a:t>
            </a:r>
            <a:r>
              <a:rPr lang="en-US" altLang="en-US" sz="2400" b="1" dirty="0">
                <a:solidFill>
                  <a:schemeClr val="tx1"/>
                </a:solidFill>
                <a:latin typeface="Arial" panose="020B0604020202020204" pitchFamily="34" charset="0"/>
              </a:rPr>
              <a:t> docs</a:t>
            </a: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 and lineage graphs to make the data understandable for others</a:t>
            </a:r>
          </a:p>
          <a:p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.</a:t>
            </a:r>
          </a:p>
          <a:p>
            <a:endParaRPr lang="en-US" b="1" spc="-5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762160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55AD16-EEC9-8D5D-26DF-1C07421A3A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C900D9-A0FE-5DB5-5828-A13B75C8E3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75539" y="80128"/>
            <a:ext cx="2016773" cy="686264"/>
          </a:xfrm>
        </p:spPr>
        <p:txBody>
          <a:bodyPr>
            <a:noAutofit/>
          </a:bodyPr>
          <a:lstStyle/>
          <a:p>
            <a:r>
              <a:rPr lang="en-US" sz="2400" b="1" dirty="0"/>
              <a:t>DBT Docs</a:t>
            </a:r>
            <a:endParaRPr lang="en-US" sz="2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5724C6-3D62-D636-092D-793B1C3E36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44896" y="1664208"/>
            <a:ext cx="9418320" cy="3744700"/>
          </a:xfrm>
        </p:spPr>
        <p:txBody>
          <a:bodyPr>
            <a:normAutofit/>
          </a:bodyPr>
          <a:lstStyle/>
          <a:p>
            <a:endParaRPr lang="en-US" b="1" spc="-5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F80B261-A3B4-7B54-68E2-6A05385AAE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6909"/>
            <a:ext cx="12192000" cy="6068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19794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894738-3A28-6794-E3B2-B354298CB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18F0A7-B544-C387-2B47-B1473FD41D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1444" y="728421"/>
            <a:ext cx="5083443" cy="3688596"/>
          </a:xfrm>
        </p:spPr>
        <p:txBody>
          <a:bodyPr>
            <a:noAutofit/>
          </a:bodyPr>
          <a:lstStyle/>
          <a:p>
            <a:r>
              <a:rPr lang="en-US" sz="2400" b="1" dirty="0"/>
              <a:t>Phase 4: Dimensional Modeling (Gold Layer)</a:t>
            </a:r>
            <a:br>
              <a:rPr lang="en-US" sz="2400" b="1" dirty="0"/>
            </a:br>
            <a:br>
              <a:rPr lang="en-US" sz="2400" b="1" dirty="0"/>
            </a:br>
            <a:r>
              <a:rPr lang="en-US" sz="2400" b="1" dirty="0"/>
              <a:t>Snowflake Schema:</a:t>
            </a:r>
            <a:r>
              <a:rPr lang="en-US" sz="2400" dirty="0"/>
              <a:t> Organizing data into Fact and Dimension tables for optimized analytical performance.</a:t>
            </a:r>
            <a:br>
              <a:rPr lang="en-US" sz="2400" dirty="0"/>
            </a:br>
            <a:endParaRPr lang="en-US" sz="24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1609CBC-1172-2B81-BD6F-8A8D95C61F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4887" y="254092"/>
            <a:ext cx="6459621" cy="6603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41338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84808D-C433-71E6-5DC9-52237C1410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98016D-7E0A-1C42-DC4C-D1BFB41DFD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9067" y="344838"/>
            <a:ext cx="10453865" cy="2165887"/>
          </a:xfrm>
        </p:spPr>
        <p:txBody>
          <a:bodyPr>
            <a:noAutofit/>
          </a:bodyPr>
          <a:lstStyle/>
          <a:p>
            <a:endParaRPr lang="en-US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032A652-EFBD-3822-85A8-EDE930E323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56153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8BEF1E-CD37-354F-C3ED-95C30B0E3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067CD-E789-14AA-C526-D20CAEB41A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9067" y="344838"/>
            <a:ext cx="10453865" cy="2165887"/>
          </a:xfrm>
        </p:spPr>
        <p:txBody>
          <a:bodyPr>
            <a:noAutofit/>
          </a:bodyPr>
          <a:lstStyle/>
          <a:p>
            <a:endParaRPr lang="en-US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DADA233-82D3-3A9E-C31F-76D847BE6B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"/>
            <a:ext cx="12192000" cy="6865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53492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D98897-238F-E0F5-CC53-F6939B7645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C8AFCF-F8C4-274A-0B9D-1128B681F4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9067" y="344838"/>
            <a:ext cx="10453865" cy="2165887"/>
          </a:xfrm>
        </p:spPr>
        <p:txBody>
          <a:bodyPr>
            <a:noAutofit/>
          </a:bodyPr>
          <a:lstStyle/>
          <a:p>
            <a:endParaRPr lang="en-US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AAF567A-4C38-C1DF-3586-FA05E5B5F2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"/>
            <a:ext cx="12192000" cy="6877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98684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41F5F7-0CE9-046F-038F-AC50C42BFF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D1F1F-8001-0C3F-F165-F21AAEAEF9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9067" y="344838"/>
            <a:ext cx="10453865" cy="2165887"/>
          </a:xfrm>
        </p:spPr>
        <p:txBody>
          <a:bodyPr>
            <a:noAutofit/>
          </a:bodyPr>
          <a:lstStyle/>
          <a:p>
            <a:endParaRPr lang="en-US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89A7C37-928A-D39A-9C7F-5FD1993F38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24429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E567BF-C1D3-6504-84B7-F55AF9CE61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68F7F-DE8C-E86A-F193-E86C19D095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9067" y="344838"/>
            <a:ext cx="10453865" cy="2165887"/>
          </a:xfrm>
        </p:spPr>
        <p:txBody>
          <a:bodyPr>
            <a:noAutofit/>
          </a:bodyPr>
          <a:lstStyle/>
          <a:p>
            <a:endParaRPr lang="en-US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5E455EE-781C-4486-E0E0-9EFB54A2B7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7690797"/>
      </p:ext>
    </p:extLst>
  </p:cSld>
  <p:clrMapOvr>
    <a:masterClrMapping/>
  </p:clrMapOvr>
</p:sld>
</file>

<file path=ppt/theme/theme1.xml><?xml version="1.0" encoding="utf-8"?>
<a:theme xmlns:a="http://schemas.openxmlformats.org/drawingml/2006/main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ppt/theme/themeOverride1.xml><?xml version="1.0" encoding="utf-8"?>
<a:themeOverride xmlns:a="http://schemas.openxmlformats.org/drawingml/2006/main">
  <a:clrScheme name="View">
    <a:dk1>
      <a:srgbClr val="000000"/>
    </a:dk1>
    <a:lt1>
      <a:srgbClr val="FFFFFF"/>
    </a:lt1>
    <a:dk2>
      <a:srgbClr val="46464A"/>
    </a:dk2>
    <a:lt2>
      <a:srgbClr val="D6D3CC"/>
    </a:lt2>
    <a:accent1>
      <a:srgbClr val="6F6F74"/>
    </a:accent1>
    <a:accent2>
      <a:srgbClr val="92A9B9"/>
    </a:accent2>
    <a:accent3>
      <a:srgbClr val="A7B789"/>
    </a:accent3>
    <a:accent4>
      <a:srgbClr val="B9A489"/>
    </a:accent4>
    <a:accent5>
      <a:srgbClr val="8D6374"/>
    </a:accent5>
    <a:accent6>
      <a:srgbClr val="9B7362"/>
    </a:accent6>
    <a:hlink>
      <a:srgbClr val="67AABF"/>
    </a:hlink>
    <a:folHlink>
      <a:srgbClr val="ABAFA5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78</TotalTime>
  <Words>369</Words>
  <Application>Microsoft Office PowerPoint</Application>
  <PresentationFormat>Widescreen</PresentationFormat>
  <Paragraphs>24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Century Schoolbook</vt:lpstr>
      <vt:lpstr>Wingdings 2</vt:lpstr>
      <vt:lpstr>View</vt:lpstr>
      <vt:lpstr>PowerPoint Presentation</vt:lpstr>
      <vt:lpstr>Project Overview &amp; Architecture  </vt:lpstr>
      <vt:lpstr> Phase 1: OLTP Database Design (The Source)   </vt:lpstr>
      <vt:lpstr>PowerPoint Presentation</vt:lpstr>
      <vt:lpstr>PowerPoint Presentation</vt:lpstr>
      <vt:lpstr>PowerPoint Presentation</vt:lpstr>
      <vt:lpstr>Phase 2: The Ingestion Layer  (Extraction-loading) </vt:lpstr>
      <vt:lpstr>Phase 3: Data Transformation (dbt &amp; Silver Layer &amp; Gold layer) </vt:lpstr>
      <vt:lpstr>DBT Docs</vt:lpstr>
      <vt:lpstr>Phase 4: Dimensional Modeling (Gold Layer)  Snowflake Schema: Organizing data into Fact and Dimension tables for optimized analytical performance. 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ahmed alaa</dc:creator>
  <cp:lastModifiedBy>ahmed alaa</cp:lastModifiedBy>
  <cp:revision>1</cp:revision>
  <dcterms:created xsi:type="dcterms:W3CDTF">2026-01-03T09:17:24Z</dcterms:created>
  <dcterms:modified xsi:type="dcterms:W3CDTF">2026-01-03T10:35:44Z</dcterms:modified>
</cp:coreProperties>
</file>